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7"/>
  </p:notesMasterIdLst>
  <p:sldIdLst>
    <p:sldId id="256" r:id="rId2"/>
    <p:sldId id="257" r:id="rId3"/>
    <p:sldId id="259" r:id="rId4"/>
    <p:sldId id="258"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EEF"/>
    <a:srgbClr val="7ED6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C16020-FE58-45C3-B3C2-CC98FCBE58A7}" type="datetimeFigureOut">
              <a:rPr lang="pl-PL" smtClean="0"/>
              <a:t>24.03.2021</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A29696-CA3D-4AE4-9F63-1D80EB3642F1}" type="slidenum">
              <a:rPr lang="pl-PL" smtClean="0"/>
              <a:t>‹#›</a:t>
            </a:fld>
            <a:endParaRPr lang="pl-PL"/>
          </a:p>
        </p:txBody>
      </p:sp>
    </p:spTree>
    <p:extLst>
      <p:ext uri="{BB962C8B-B14F-4D97-AF65-F5344CB8AC3E}">
        <p14:creationId xmlns:p14="http://schemas.microsoft.com/office/powerpoint/2010/main" val="3651172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0" i="0" dirty="0" err="1">
                <a:solidFill>
                  <a:srgbClr val="000000"/>
                </a:solidFill>
                <a:effectLst/>
                <a:latin typeface="Roboto"/>
              </a:rPr>
              <a:t>Bag</a:t>
            </a:r>
            <a:r>
              <a:rPr lang="pl-PL" b="0" i="0" dirty="0">
                <a:solidFill>
                  <a:srgbClr val="000000"/>
                </a:solidFill>
                <a:effectLst/>
                <a:latin typeface="Roboto"/>
              </a:rPr>
              <a:t> puzzle odbywa się na prostokątnej siatce, w której w niektórych komórkach pojawiają się liczby. Celem jest narysowanie pojedynczej, ciągłej pętli wzdłuż linii siatki, która zawiera wszystkie liczby na siatce. Dodatkowo każda liczba oznacza sumę wszystkich komórek widocznych w dowolnym kierunku ortogonalnym przed osiągnięciem linii pętli. Na przykład komórka 2 będzie miała przylegającą do niej dokładnie jedną komórkę, a po niej ścianę pętli. Innymi słowy, jeśli potraktujemy pętlę jako ścianę, każda liczba oznacza liczbę komórek, które można zobaczyć z komórki z liczbą, patrząc prostopadle, łącznie z samą komórką.</a:t>
            </a:r>
            <a:endParaRPr lang="pl-PL" sz="2000" dirty="0"/>
          </a:p>
          <a:p>
            <a:endParaRPr lang="pl-PL" dirty="0"/>
          </a:p>
        </p:txBody>
      </p:sp>
      <p:sp>
        <p:nvSpPr>
          <p:cNvPr id="4" name="Symbol zastępczy numeru slajdu 3"/>
          <p:cNvSpPr>
            <a:spLocks noGrp="1"/>
          </p:cNvSpPr>
          <p:nvPr>
            <p:ph type="sldNum" sz="quarter" idx="5"/>
          </p:nvPr>
        </p:nvSpPr>
        <p:spPr/>
        <p:txBody>
          <a:bodyPr/>
          <a:lstStyle/>
          <a:p>
            <a:fld id="{29A29696-CA3D-4AE4-9F63-1D80EB3642F1}" type="slidenum">
              <a:rPr lang="pl-PL" smtClean="0"/>
              <a:t>2</a:t>
            </a:fld>
            <a:endParaRPr lang="pl-PL"/>
          </a:p>
        </p:txBody>
      </p:sp>
    </p:spTree>
    <p:extLst>
      <p:ext uri="{BB962C8B-B14F-4D97-AF65-F5344CB8AC3E}">
        <p14:creationId xmlns:p14="http://schemas.microsoft.com/office/powerpoint/2010/main" val="672349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0" i="0" dirty="0">
                <a:solidFill>
                  <a:srgbClr val="000000"/>
                </a:solidFill>
                <a:effectLst/>
                <a:latin typeface="Roboto"/>
              </a:rPr>
              <a:t>Problemy ze spełnieniem ograniczeń (CSP) to pytania matematyczne zdefiniowane jako zbiór obiektów, których stan musi spełniać szereg ograniczeń. CSP reprezentują jednostki w problemie jako jednorodny zbiór skończonych ograniczeń względem zmiennych, który jest rozwiązywany za pomocą metod spełniania ograniczeń. CSP są przedmiotem intensywnych badań zarówno w dziedzinie sztucznej inteligencji, jak i badań operacyjnych.</a:t>
            </a:r>
            <a:endParaRPr lang="pl-PL" dirty="0">
              <a:solidFill>
                <a:schemeClr val="bg2"/>
              </a:solidFill>
              <a:latin typeface="Trebuchet MS" panose="020B0603020202020204" pitchFamily="34" charset="0"/>
            </a:endParaRPr>
          </a:p>
          <a:p>
            <a:endParaRPr lang="pl-PL" dirty="0"/>
          </a:p>
        </p:txBody>
      </p:sp>
      <p:sp>
        <p:nvSpPr>
          <p:cNvPr id="4" name="Symbol zastępczy numeru slajdu 3"/>
          <p:cNvSpPr>
            <a:spLocks noGrp="1"/>
          </p:cNvSpPr>
          <p:nvPr>
            <p:ph type="sldNum" sz="quarter" idx="5"/>
          </p:nvPr>
        </p:nvSpPr>
        <p:spPr/>
        <p:txBody>
          <a:bodyPr/>
          <a:lstStyle/>
          <a:p>
            <a:fld id="{29A29696-CA3D-4AE4-9F63-1D80EB3642F1}" type="slidenum">
              <a:rPr lang="pl-PL" smtClean="0"/>
              <a:t>3</a:t>
            </a:fld>
            <a:endParaRPr lang="pl-PL"/>
          </a:p>
        </p:txBody>
      </p:sp>
    </p:spTree>
    <p:extLst>
      <p:ext uri="{BB962C8B-B14F-4D97-AF65-F5344CB8AC3E}">
        <p14:creationId xmlns:p14="http://schemas.microsoft.com/office/powerpoint/2010/main" val="94140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l-PL" b="0" i="0" dirty="0">
                <a:solidFill>
                  <a:srgbClr val="000000"/>
                </a:solidFill>
                <a:effectLst/>
                <a:latin typeface="Trebuchet MS" panose="020B0603020202020204" pitchFamily="34" charset="0"/>
              </a:rPr>
              <a:t>Programowanie z ograniczeniami (CP) jest paradygmatem rozwiązywania problemów kombinatorycznych, który opiera się na szerokiej gamie technik ze sztucznej inteligencji, informatyki i badań operacyjnych. W programowaniu z ograniczeniami użytkownicy deklarują ograniczenia możliwych rozwiązań dla zbioru zmiennych decyzyjnych. Ograniczenia różnią się od typowych prymitywów imperatywnych języków programowania tym, że nie określają kroku lub sekwencji kroków do wykonania, ale raczej właściwości rozwiązania, które ma zostać znalezione. Oprócz ograniczeń użytkownicy muszą również określić metodę rozwiązywania tych ograniczeń. Zwykle opiera się na standardowych metodach, takich jak chronologiczne cofanie się i propagacja ograniczeń, ale może używać niestandardowego kodu, takiego jak heurystyka rozgałęziania specyficzna dla problemu.</a:t>
            </a:r>
            <a:endParaRPr lang="pl-PL" dirty="0">
              <a:latin typeface="Trebuchet MS" panose="020B0603020202020204" pitchFamily="34" charset="0"/>
            </a:endParaRPr>
          </a:p>
          <a:p>
            <a:endParaRPr lang="pl-PL" dirty="0"/>
          </a:p>
        </p:txBody>
      </p:sp>
      <p:sp>
        <p:nvSpPr>
          <p:cNvPr id="4" name="Symbol zastępczy numeru slajdu 3"/>
          <p:cNvSpPr>
            <a:spLocks noGrp="1"/>
          </p:cNvSpPr>
          <p:nvPr>
            <p:ph type="sldNum" sz="quarter" idx="5"/>
          </p:nvPr>
        </p:nvSpPr>
        <p:spPr/>
        <p:txBody>
          <a:bodyPr/>
          <a:lstStyle/>
          <a:p>
            <a:fld id="{29A29696-CA3D-4AE4-9F63-1D80EB3642F1}" type="slidenum">
              <a:rPr lang="pl-PL" smtClean="0"/>
              <a:t>4</a:t>
            </a:fld>
            <a:endParaRPr lang="pl-PL"/>
          </a:p>
        </p:txBody>
      </p:sp>
    </p:spTree>
    <p:extLst>
      <p:ext uri="{BB962C8B-B14F-4D97-AF65-F5344CB8AC3E}">
        <p14:creationId xmlns:p14="http://schemas.microsoft.com/office/powerpoint/2010/main" val="1286707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F34583E4-1780-4411-9B31-179AE2D0B6E2}" type="datetimeFigureOut">
              <a:rPr lang="pl-PL" smtClean="0"/>
              <a:t>24.03.2021</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2861111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583E4-1780-4411-9B31-179AE2D0B6E2}" type="datetimeFigureOut">
              <a:rPr lang="pl-PL" smtClean="0"/>
              <a:t>24.03.2021</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36061910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583E4-1780-4411-9B31-179AE2D0B6E2}" type="datetimeFigureOut">
              <a:rPr lang="pl-PL" smtClean="0"/>
              <a:t>24.03.2021</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53684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34583E4-1780-4411-9B31-179AE2D0B6E2}" type="datetimeFigureOut">
              <a:rPr lang="pl-PL" smtClean="0"/>
              <a:t>24.03.2021</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1634707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4583E4-1780-4411-9B31-179AE2D0B6E2}" type="datetimeFigureOut">
              <a:rPr lang="pl-PL" smtClean="0"/>
              <a:t>24.03.2021</a:t>
            </a:fld>
            <a:endParaRPr lang="pl-PL"/>
          </a:p>
        </p:txBody>
      </p:sp>
      <p:sp>
        <p:nvSpPr>
          <p:cNvPr id="8" name="Footer Placeholder 7"/>
          <p:cNvSpPr>
            <a:spLocks noGrp="1"/>
          </p:cNvSpPr>
          <p:nvPr>
            <p:ph type="ftr" sz="quarter" idx="11"/>
          </p:nvPr>
        </p:nvSpPr>
        <p:spPr/>
        <p:txBody>
          <a:bodyPr/>
          <a:lstStyle/>
          <a:p>
            <a:endParaRPr lang="pl-PL"/>
          </a:p>
        </p:txBody>
      </p:sp>
      <p:sp>
        <p:nvSpPr>
          <p:cNvPr id="9" name="Slide Number Placeholder 8"/>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14533675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4583E4-1780-4411-9B31-179AE2D0B6E2}" type="datetimeFigureOut">
              <a:rPr lang="pl-PL" smtClean="0"/>
              <a:t>24.03.2021</a:t>
            </a:fld>
            <a:endParaRPr lang="pl-PL"/>
          </a:p>
        </p:txBody>
      </p:sp>
      <p:sp>
        <p:nvSpPr>
          <p:cNvPr id="4" name="Footer Placeholder 3"/>
          <p:cNvSpPr>
            <a:spLocks noGrp="1"/>
          </p:cNvSpPr>
          <p:nvPr>
            <p:ph type="ftr" sz="quarter" idx="11"/>
          </p:nvPr>
        </p:nvSpPr>
        <p:spPr/>
        <p:txBody>
          <a:bodyPr/>
          <a:lstStyle/>
          <a:p>
            <a:endParaRPr lang="pl-PL"/>
          </a:p>
        </p:txBody>
      </p:sp>
      <p:sp>
        <p:nvSpPr>
          <p:cNvPr id="5" name="Slide Number Placeholder 4"/>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2224010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4583E4-1780-4411-9B31-179AE2D0B6E2}" type="datetimeFigureOut">
              <a:rPr lang="pl-PL" smtClean="0"/>
              <a:t>24.03.2021</a:t>
            </a:fld>
            <a:endParaRPr lang="pl-PL"/>
          </a:p>
        </p:txBody>
      </p:sp>
      <p:sp>
        <p:nvSpPr>
          <p:cNvPr id="3" name="Footer Placeholder 2"/>
          <p:cNvSpPr>
            <a:spLocks noGrp="1"/>
          </p:cNvSpPr>
          <p:nvPr>
            <p:ph type="ftr" sz="quarter" idx="11"/>
          </p:nvPr>
        </p:nvSpPr>
        <p:spPr/>
        <p:txBody>
          <a:bodyPr/>
          <a:lstStyle/>
          <a:p>
            <a:endParaRPr lang="pl-PL"/>
          </a:p>
        </p:txBody>
      </p:sp>
      <p:sp>
        <p:nvSpPr>
          <p:cNvPr id="4" name="Slide Number Placeholder 3"/>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1362196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F34583E4-1780-4411-9B31-179AE2D0B6E2}" type="datetimeFigureOut">
              <a:rPr lang="pl-PL" smtClean="0"/>
              <a:t>24.03.2021</a:t>
            </a:fld>
            <a:endParaRPr lang="pl-PL"/>
          </a:p>
        </p:txBody>
      </p:sp>
      <p:sp>
        <p:nvSpPr>
          <p:cNvPr id="6" name="Footer Placeholder 5"/>
          <p:cNvSpPr>
            <a:spLocks noGrp="1"/>
          </p:cNvSpPr>
          <p:nvPr>
            <p:ph type="ftr" sz="quarter" idx="11"/>
          </p:nvPr>
        </p:nvSpPr>
        <p:spPr/>
        <p:txBody>
          <a:bodyPr/>
          <a:lstStyle/>
          <a:p>
            <a:endParaRPr lang="pl-PL"/>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4198810B-89BA-422A-8633-5CC708AA72E8}" type="slidenum">
              <a:rPr lang="pl-PL" smtClean="0"/>
              <a:t>‹#›</a:t>
            </a:fld>
            <a:endParaRPr lang="pl-PL"/>
          </a:p>
        </p:txBody>
      </p:sp>
    </p:spTree>
    <p:extLst>
      <p:ext uri="{BB962C8B-B14F-4D97-AF65-F5344CB8AC3E}">
        <p14:creationId xmlns:p14="http://schemas.microsoft.com/office/powerpoint/2010/main" val="3124968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Date Placeholder 8"/>
          <p:cNvSpPr>
            <a:spLocks noGrp="1"/>
          </p:cNvSpPr>
          <p:nvPr>
            <p:ph type="dt" sz="half" idx="10"/>
          </p:nvPr>
        </p:nvSpPr>
        <p:spPr/>
        <p:txBody>
          <a:bodyPr/>
          <a:lstStyle/>
          <a:p>
            <a:fld id="{F34583E4-1780-4411-9B31-179AE2D0B6E2}" type="datetimeFigureOut">
              <a:rPr lang="pl-PL" smtClean="0"/>
              <a:t>24.03.2021</a:t>
            </a:fld>
            <a:endParaRPr lang="pl-PL"/>
          </a:p>
        </p:txBody>
      </p:sp>
      <p:sp>
        <p:nvSpPr>
          <p:cNvPr id="10" name="Footer Placeholder 9"/>
          <p:cNvSpPr>
            <a:spLocks noGrp="1"/>
          </p:cNvSpPr>
          <p:nvPr>
            <p:ph type="ftr" sz="quarter" idx="11"/>
          </p:nvPr>
        </p:nvSpPr>
        <p:spPr/>
        <p:txBody>
          <a:bodyPr/>
          <a:lstStyle/>
          <a:p>
            <a:endParaRPr lang="pl-PL"/>
          </a:p>
        </p:txBody>
      </p:sp>
      <p:sp>
        <p:nvSpPr>
          <p:cNvPr id="11" name="Slide Number Placeholder 10"/>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862098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583E4-1780-4411-9B31-179AE2D0B6E2}" type="datetimeFigureOut">
              <a:rPr lang="pl-PL" smtClean="0"/>
              <a:t>24.03.2021</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30161021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4583E4-1780-4411-9B31-179AE2D0B6E2}" type="datetimeFigureOut">
              <a:rPr lang="pl-PL" smtClean="0"/>
              <a:t>24.03.2021</a:t>
            </a:fld>
            <a:endParaRPr lang="pl-PL"/>
          </a:p>
        </p:txBody>
      </p:sp>
      <p:sp>
        <p:nvSpPr>
          <p:cNvPr id="5" name="Footer Placeholder 4"/>
          <p:cNvSpPr>
            <a:spLocks noGrp="1"/>
          </p:cNvSpPr>
          <p:nvPr>
            <p:ph type="ftr" sz="quarter" idx="11"/>
          </p:nvPr>
        </p:nvSpPr>
        <p:spPr/>
        <p:txBody>
          <a:bodyPr/>
          <a:lstStyle/>
          <a:p>
            <a:endParaRPr lang="pl-PL"/>
          </a:p>
        </p:txBody>
      </p:sp>
      <p:sp>
        <p:nvSpPr>
          <p:cNvPr id="6" name="Slide Number Placeholder 5"/>
          <p:cNvSpPr>
            <a:spLocks noGrp="1"/>
          </p:cNvSpPr>
          <p:nvPr>
            <p:ph type="sldNum" sz="quarter" idx="12"/>
          </p:nvPr>
        </p:nvSpPr>
        <p:spPr/>
        <p:txBody>
          <a:bodyPr/>
          <a:lstStyle/>
          <a:p>
            <a:fld id="{4198810B-89BA-422A-8633-5CC708AA72E8}" type="slidenum">
              <a:rPr lang="pl-PL" smtClean="0"/>
              <a:t>‹#›</a:t>
            </a:fld>
            <a:endParaRPr lang="pl-PL"/>
          </a:p>
        </p:txBody>
      </p:sp>
    </p:spTree>
    <p:extLst>
      <p:ext uri="{BB962C8B-B14F-4D97-AF65-F5344CB8AC3E}">
        <p14:creationId xmlns:p14="http://schemas.microsoft.com/office/powerpoint/2010/main" val="2283042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F34583E4-1780-4411-9B31-179AE2D0B6E2}" type="datetimeFigureOut">
              <a:rPr lang="pl-PL" smtClean="0"/>
              <a:t>24.03.2021</a:t>
            </a:fld>
            <a:endParaRPr lang="pl-PL"/>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pl-PL"/>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tx1">
                    <a:alpha val="20000"/>
                  </a:schemeClr>
                </a:solidFill>
                <a:latin typeface="+mj-lt"/>
              </a:defRPr>
            </a:lvl1pPr>
          </a:lstStyle>
          <a:p>
            <a:fld id="{4198810B-89BA-422A-8633-5CC708AA72E8}" type="slidenum">
              <a:rPr lang="pl-PL" smtClean="0"/>
              <a:t>‹#›</a:t>
            </a:fld>
            <a:endParaRPr lang="pl-PL"/>
          </a:p>
        </p:txBody>
      </p:sp>
    </p:spTree>
    <p:extLst>
      <p:ext uri="{BB962C8B-B14F-4D97-AF65-F5344CB8AC3E}">
        <p14:creationId xmlns:p14="http://schemas.microsoft.com/office/powerpoint/2010/main" val="1852218343"/>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54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accent1"/>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75000"/>
              <a:lumOff val="2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65000"/>
              <a:lumOff val="3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04D69-B082-4B46-8742-BE95CE32C03A}"/>
              </a:ext>
            </a:extLst>
          </p:cNvPr>
          <p:cNvSpPr>
            <a:spLocks noGrp="1"/>
          </p:cNvSpPr>
          <p:nvPr>
            <p:ph type="ctrTitle"/>
          </p:nvPr>
        </p:nvSpPr>
        <p:spPr/>
        <p:txBody>
          <a:bodyPr/>
          <a:lstStyle/>
          <a:p>
            <a:r>
              <a:rPr lang="pl-PL" dirty="0" err="1">
                <a:solidFill>
                  <a:schemeClr val="bg1">
                    <a:lumMod val="95000"/>
                  </a:schemeClr>
                </a:solidFill>
                <a:latin typeface="Trebuchet MS" panose="020B0603020202020204" pitchFamily="34" charset="0"/>
              </a:rPr>
              <a:t>Bag</a:t>
            </a:r>
            <a:r>
              <a:rPr lang="pl-PL" dirty="0">
                <a:latin typeface="Trebuchet MS" panose="020B0603020202020204" pitchFamily="34" charset="0"/>
              </a:rPr>
              <a:t> Puzzle</a:t>
            </a:r>
          </a:p>
        </p:txBody>
      </p:sp>
      <p:sp>
        <p:nvSpPr>
          <p:cNvPr id="3" name="Subtitle 2">
            <a:extLst>
              <a:ext uri="{FF2B5EF4-FFF2-40B4-BE49-F238E27FC236}">
                <a16:creationId xmlns:a16="http://schemas.microsoft.com/office/drawing/2014/main" id="{48C13858-6DD5-45BC-8471-6EEA4B943530}"/>
              </a:ext>
            </a:extLst>
          </p:cNvPr>
          <p:cNvSpPr>
            <a:spLocks noGrp="1"/>
          </p:cNvSpPr>
          <p:nvPr>
            <p:ph type="subTitle" idx="1"/>
          </p:nvPr>
        </p:nvSpPr>
        <p:spPr/>
        <p:txBody>
          <a:bodyPr/>
          <a:lstStyle/>
          <a:p>
            <a:r>
              <a:rPr lang="pl-PL" dirty="0">
                <a:latin typeface="Trebuchet MS" panose="020B0603020202020204" pitchFamily="34" charset="0"/>
              </a:rPr>
              <a:t>Zespół Z1</a:t>
            </a:r>
          </a:p>
        </p:txBody>
      </p:sp>
      <p:sp>
        <p:nvSpPr>
          <p:cNvPr id="5" name="TextBox 4">
            <a:extLst>
              <a:ext uri="{FF2B5EF4-FFF2-40B4-BE49-F238E27FC236}">
                <a16:creationId xmlns:a16="http://schemas.microsoft.com/office/drawing/2014/main" id="{3B896D89-7490-4181-8CBA-F8A17E878936}"/>
              </a:ext>
            </a:extLst>
          </p:cNvPr>
          <p:cNvSpPr txBox="1"/>
          <p:nvPr/>
        </p:nvSpPr>
        <p:spPr>
          <a:xfrm>
            <a:off x="10171611" y="5190309"/>
            <a:ext cx="2960914" cy="1477328"/>
          </a:xfrm>
          <a:prstGeom prst="rect">
            <a:avLst/>
          </a:prstGeom>
          <a:noFill/>
        </p:spPr>
        <p:txBody>
          <a:bodyPr wrap="square" rtlCol="0">
            <a:spAutoFit/>
          </a:bodyPr>
          <a:lstStyle/>
          <a:p>
            <a:r>
              <a:rPr lang="pl-PL" b="1" dirty="0">
                <a:solidFill>
                  <a:schemeClr val="bg1">
                    <a:lumMod val="95000"/>
                  </a:schemeClr>
                </a:solidFill>
              </a:rPr>
              <a:t>Członkowie:</a:t>
            </a:r>
          </a:p>
          <a:p>
            <a:r>
              <a:rPr lang="pl-PL" b="1" dirty="0">
                <a:solidFill>
                  <a:schemeClr val="bg1">
                    <a:lumMod val="95000"/>
                  </a:schemeClr>
                </a:solidFill>
              </a:rPr>
              <a:t>Bartosz Kosmala</a:t>
            </a:r>
          </a:p>
          <a:p>
            <a:r>
              <a:rPr lang="pl-PL" b="1" dirty="0">
                <a:solidFill>
                  <a:schemeClr val="bg1">
                    <a:lumMod val="95000"/>
                  </a:schemeClr>
                </a:solidFill>
              </a:rPr>
              <a:t>Hubert </a:t>
            </a:r>
            <a:r>
              <a:rPr lang="pl-PL" b="1" dirty="0" err="1">
                <a:solidFill>
                  <a:schemeClr val="bg1">
                    <a:lumMod val="95000"/>
                  </a:schemeClr>
                </a:solidFill>
              </a:rPr>
              <a:t>Knioła</a:t>
            </a:r>
            <a:endParaRPr lang="pl-PL" b="1" dirty="0">
              <a:solidFill>
                <a:schemeClr val="bg1">
                  <a:lumMod val="95000"/>
                </a:schemeClr>
              </a:solidFill>
            </a:endParaRPr>
          </a:p>
          <a:p>
            <a:r>
              <a:rPr lang="pl-PL" b="1" dirty="0">
                <a:solidFill>
                  <a:schemeClr val="bg1">
                    <a:lumMod val="95000"/>
                  </a:schemeClr>
                </a:solidFill>
              </a:rPr>
              <a:t>Jordan Kondracki</a:t>
            </a:r>
          </a:p>
          <a:p>
            <a:r>
              <a:rPr lang="pl-PL" b="1" dirty="0">
                <a:solidFill>
                  <a:schemeClr val="bg1">
                    <a:lumMod val="95000"/>
                  </a:schemeClr>
                </a:solidFill>
              </a:rPr>
              <a:t>Mateusz Kuźniak</a:t>
            </a:r>
          </a:p>
        </p:txBody>
      </p:sp>
    </p:spTree>
    <p:extLst>
      <p:ext uri="{BB962C8B-B14F-4D97-AF65-F5344CB8AC3E}">
        <p14:creationId xmlns:p14="http://schemas.microsoft.com/office/powerpoint/2010/main" val="472617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59E02-25C0-40C8-A2BF-75BE339C50A6}"/>
              </a:ext>
            </a:extLst>
          </p:cNvPr>
          <p:cNvSpPr>
            <a:spLocks noGrp="1"/>
          </p:cNvSpPr>
          <p:nvPr>
            <p:ph type="title"/>
          </p:nvPr>
        </p:nvSpPr>
        <p:spPr/>
        <p:txBody>
          <a:bodyPr/>
          <a:lstStyle/>
          <a:p>
            <a:r>
              <a:rPr lang="pl-PL" dirty="0">
                <a:solidFill>
                  <a:srgbClr val="00AEEF"/>
                </a:solidFill>
                <a:latin typeface="Trebuchet MS" panose="020B0603020202020204" pitchFamily="34" charset="0"/>
              </a:rPr>
              <a:t>Zasady</a:t>
            </a:r>
          </a:p>
        </p:txBody>
      </p:sp>
      <p:pic>
        <p:nvPicPr>
          <p:cNvPr id="5" name="Symbol zastępczy zawartości 4">
            <a:extLst>
              <a:ext uri="{FF2B5EF4-FFF2-40B4-BE49-F238E27FC236}">
                <a16:creationId xmlns:a16="http://schemas.microsoft.com/office/drawing/2014/main" id="{932CF509-A297-4D19-A23E-82BB3DAFF359}"/>
              </a:ext>
            </a:extLst>
          </p:cNvPr>
          <p:cNvPicPr>
            <a:picLocks noGrp="1" noChangeAspect="1"/>
          </p:cNvPicPr>
          <p:nvPr>
            <p:ph idx="1"/>
          </p:nvPr>
        </p:nvPicPr>
        <p:blipFill rotWithShape="1">
          <a:blip r:embed="rId3"/>
          <a:srcRect/>
          <a:stretch/>
        </p:blipFill>
        <p:spPr>
          <a:xfrm>
            <a:off x="6764812" y="1941693"/>
            <a:ext cx="3742078" cy="3767137"/>
          </a:xfrm>
        </p:spPr>
      </p:pic>
      <p:pic>
        <p:nvPicPr>
          <p:cNvPr id="7" name="Obraz 6">
            <a:extLst>
              <a:ext uri="{FF2B5EF4-FFF2-40B4-BE49-F238E27FC236}">
                <a16:creationId xmlns:a16="http://schemas.microsoft.com/office/drawing/2014/main" id="{C9F88978-10D2-4DEC-9500-D36A6749F819}"/>
              </a:ext>
            </a:extLst>
          </p:cNvPr>
          <p:cNvPicPr>
            <a:picLocks noChangeAspect="1"/>
          </p:cNvPicPr>
          <p:nvPr/>
        </p:nvPicPr>
        <p:blipFill>
          <a:blip r:embed="rId4"/>
          <a:stretch>
            <a:fillRect/>
          </a:stretch>
        </p:blipFill>
        <p:spPr>
          <a:xfrm>
            <a:off x="1807030" y="1941693"/>
            <a:ext cx="3741911" cy="3767137"/>
          </a:xfrm>
          <a:prstGeom prst="rect">
            <a:avLst/>
          </a:prstGeom>
        </p:spPr>
      </p:pic>
      <p:sp>
        <p:nvSpPr>
          <p:cNvPr id="8" name="pole tekstowe 7">
            <a:extLst>
              <a:ext uri="{FF2B5EF4-FFF2-40B4-BE49-F238E27FC236}">
                <a16:creationId xmlns:a16="http://schemas.microsoft.com/office/drawing/2014/main" id="{54D6106A-F6C8-4F09-AB08-6DDD79884116}"/>
              </a:ext>
            </a:extLst>
          </p:cNvPr>
          <p:cNvSpPr txBox="1"/>
          <p:nvPr/>
        </p:nvSpPr>
        <p:spPr>
          <a:xfrm>
            <a:off x="7971824" y="5708830"/>
            <a:ext cx="2704010" cy="338554"/>
          </a:xfrm>
          <a:prstGeom prst="rect">
            <a:avLst/>
          </a:prstGeom>
          <a:noFill/>
        </p:spPr>
        <p:txBody>
          <a:bodyPr wrap="square" rtlCol="0">
            <a:spAutoFit/>
          </a:bodyPr>
          <a:lstStyle/>
          <a:p>
            <a:r>
              <a:rPr lang="pl-PL" sz="1600" dirty="0">
                <a:solidFill>
                  <a:schemeClr val="bg2"/>
                </a:solidFill>
              </a:rPr>
              <a:t>http://www.tectonicpuzzel.eu</a:t>
            </a:r>
          </a:p>
        </p:txBody>
      </p:sp>
    </p:spTree>
    <p:extLst>
      <p:ext uri="{BB962C8B-B14F-4D97-AF65-F5344CB8AC3E}">
        <p14:creationId xmlns:p14="http://schemas.microsoft.com/office/powerpoint/2010/main" val="1945485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A1EE4-B632-47E8-9BC4-A154FADF7665}"/>
              </a:ext>
            </a:extLst>
          </p:cNvPr>
          <p:cNvSpPr>
            <a:spLocks noGrp="1"/>
          </p:cNvSpPr>
          <p:nvPr>
            <p:ph type="title"/>
          </p:nvPr>
        </p:nvSpPr>
        <p:spPr/>
        <p:txBody>
          <a:bodyPr/>
          <a:lstStyle/>
          <a:p>
            <a:r>
              <a:rPr lang="pl-PL" dirty="0">
                <a:solidFill>
                  <a:srgbClr val="00AEEF"/>
                </a:solidFill>
                <a:latin typeface="Trebuchet MS" panose="020B0603020202020204" pitchFamily="34" charset="0"/>
              </a:rPr>
              <a:t>Problem CSP</a:t>
            </a:r>
          </a:p>
        </p:txBody>
      </p:sp>
      <p:pic>
        <p:nvPicPr>
          <p:cNvPr id="1028" name="Picture 4" descr="13461 Czarna skrzynka amerykańska z uchwytem ściennym Lubin - Sprzedajemy.pl">
            <a:extLst>
              <a:ext uri="{FF2B5EF4-FFF2-40B4-BE49-F238E27FC236}">
                <a16:creationId xmlns:a16="http://schemas.microsoft.com/office/drawing/2014/main" id="{29DE29AB-7B6F-4E88-AED9-E5951BD67E9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r="-146" b="8216"/>
          <a:stretch/>
        </p:blipFill>
        <p:spPr bwMode="auto">
          <a:xfrm>
            <a:off x="4157287" y="2157731"/>
            <a:ext cx="3772648" cy="3457620"/>
          </a:xfrm>
          <a:prstGeom prst="rect">
            <a:avLst/>
          </a:prstGeom>
          <a:noFill/>
          <a:extLst>
            <a:ext uri="{909E8E84-426E-40DD-AFC4-6F175D3DCCD1}">
              <a14:hiddenFill xmlns:a14="http://schemas.microsoft.com/office/drawing/2010/main">
                <a:solidFill>
                  <a:srgbClr val="FFFFFF"/>
                </a:solidFill>
              </a14:hiddenFill>
            </a:ext>
          </a:extLst>
        </p:spPr>
      </p:pic>
      <p:sp>
        <p:nvSpPr>
          <p:cNvPr id="5" name="Strzałka: w prawo 4">
            <a:extLst>
              <a:ext uri="{FF2B5EF4-FFF2-40B4-BE49-F238E27FC236}">
                <a16:creationId xmlns:a16="http://schemas.microsoft.com/office/drawing/2014/main" id="{BFA6923F-296E-42C4-B22C-96D635E097FB}"/>
              </a:ext>
            </a:extLst>
          </p:cNvPr>
          <p:cNvSpPr/>
          <p:nvPr/>
        </p:nvSpPr>
        <p:spPr>
          <a:xfrm>
            <a:off x="0" y="3135604"/>
            <a:ext cx="3520575" cy="15018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9" name="Strzałka: w prawo 8">
            <a:extLst>
              <a:ext uri="{FF2B5EF4-FFF2-40B4-BE49-F238E27FC236}">
                <a16:creationId xmlns:a16="http://schemas.microsoft.com/office/drawing/2014/main" id="{27B5DA8D-DF9A-4AC1-A5EA-6359B973DFDF}"/>
              </a:ext>
            </a:extLst>
          </p:cNvPr>
          <p:cNvSpPr/>
          <p:nvPr/>
        </p:nvSpPr>
        <p:spPr>
          <a:xfrm>
            <a:off x="8671425" y="3135603"/>
            <a:ext cx="3520575" cy="150187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7" name="pole tekstowe 6">
            <a:extLst>
              <a:ext uri="{FF2B5EF4-FFF2-40B4-BE49-F238E27FC236}">
                <a16:creationId xmlns:a16="http://schemas.microsoft.com/office/drawing/2014/main" id="{CCD49DEB-0C34-4D81-BEB2-C1565F74DA1F}"/>
              </a:ext>
            </a:extLst>
          </p:cNvPr>
          <p:cNvSpPr txBox="1"/>
          <p:nvPr/>
        </p:nvSpPr>
        <p:spPr>
          <a:xfrm>
            <a:off x="6198191" y="5613673"/>
            <a:ext cx="2473234" cy="369332"/>
          </a:xfrm>
          <a:prstGeom prst="rect">
            <a:avLst/>
          </a:prstGeom>
          <a:noFill/>
        </p:spPr>
        <p:txBody>
          <a:bodyPr wrap="square" rtlCol="0">
            <a:spAutoFit/>
          </a:bodyPr>
          <a:lstStyle/>
          <a:p>
            <a:r>
              <a:rPr lang="pl-PL" dirty="0">
                <a:solidFill>
                  <a:schemeClr val="bg2"/>
                </a:solidFill>
              </a:rPr>
              <a:t>https://sprzedajemy.pl</a:t>
            </a:r>
          </a:p>
        </p:txBody>
      </p:sp>
    </p:spTree>
    <p:extLst>
      <p:ext uri="{BB962C8B-B14F-4D97-AF65-F5344CB8AC3E}">
        <p14:creationId xmlns:p14="http://schemas.microsoft.com/office/powerpoint/2010/main" val="3676513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C907C6-22C7-49A8-8907-2A1F26E6ACA4}"/>
              </a:ext>
            </a:extLst>
          </p:cNvPr>
          <p:cNvSpPr>
            <a:spLocks noGrp="1"/>
          </p:cNvSpPr>
          <p:nvPr>
            <p:ph type="title"/>
          </p:nvPr>
        </p:nvSpPr>
        <p:spPr/>
        <p:txBody>
          <a:bodyPr/>
          <a:lstStyle/>
          <a:p>
            <a:r>
              <a:rPr lang="pl-PL" dirty="0">
                <a:solidFill>
                  <a:srgbClr val="00AEEF"/>
                </a:solidFill>
                <a:latin typeface="Trebuchet MS" panose="020B0603020202020204" pitchFamily="34" charset="0"/>
              </a:rPr>
              <a:t>Paradygmat CP(FD)</a:t>
            </a:r>
          </a:p>
        </p:txBody>
      </p:sp>
      <p:pic>
        <p:nvPicPr>
          <p:cNvPr id="2056" name="Picture 8" descr="Constraint Programming | ramasubramanian.github.io">
            <a:extLst>
              <a:ext uri="{FF2B5EF4-FFF2-40B4-BE49-F238E27FC236}">
                <a16:creationId xmlns:a16="http://schemas.microsoft.com/office/drawing/2014/main" id="{14BDB090-CD40-4AFC-96F3-2CDB0F1D463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30915" y="2011363"/>
            <a:ext cx="6044445" cy="3767137"/>
          </a:xfrm>
          <a:prstGeom prst="rect">
            <a:avLst/>
          </a:prstGeom>
          <a:noFill/>
          <a:extLst>
            <a:ext uri="{909E8E84-426E-40DD-AFC4-6F175D3DCCD1}">
              <a14:hiddenFill xmlns:a14="http://schemas.microsoft.com/office/drawing/2010/main">
                <a:solidFill>
                  <a:srgbClr val="FFFFFF"/>
                </a:solidFill>
              </a14:hiddenFill>
            </a:ext>
          </a:extLst>
        </p:spPr>
      </p:pic>
      <p:sp>
        <p:nvSpPr>
          <p:cNvPr id="4" name="pole tekstowe 3">
            <a:extLst>
              <a:ext uri="{FF2B5EF4-FFF2-40B4-BE49-F238E27FC236}">
                <a16:creationId xmlns:a16="http://schemas.microsoft.com/office/drawing/2014/main" id="{9E201276-7A1C-4925-B6C1-D3DB9AA00288}"/>
              </a:ext>
            </a:extLst>
          </p:cNvPr>
          <p:cNvSpPr txBox="1"/>
          <p:nvPr/>
        </p:nvSpPr>
        <p:spPr>
          <a:xfrm>
            <a:off x="5983817" y="5439946"/>
            <a:ext cx="3091543" cy="338554"/>
          </a:xfrm>
          <a:prstGeom prst="rect">
            <a:avLst/>
          </a:prstGeom>
          <a:noFill/>
        </p:spPr>
        <p:txBody>
          <a:bodyPr wrap="square" rtlCol="0">
            <a:spAutoFit/>
          </a:bodyPr>
          <a:lstStyle/>
          <a:p>
            <a:r>
              <a:rPr lang="pl-PL" sz="1600" dirty="0">
                <a:solidFill>
                  <a:schemeClr val="bg2"/>
                </a:solidFill>
              </a:rPr>
              <a:t>https://ramasubramanian.github.io</a:t>
            </a:r>
          </a:p>
        </p:txBody>
      </p:sp>
    </p:spTree>
    <p:extLst>
      <p:ext uri="{BB962C8B-B14F-4D97-AF65-F5344CB8AC3E}">
        <p14:creationId xmlns:p14="http://schemas.microsoft.com/office/powerpoint/2010/main" val="3184621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BEEEA-BA42-45F3-BE78-C55E53120620}"/>
              </a:ext>
            </a:extLst>
          </p:cNvPr>
          <p:cNvSpPr>
            <a:spLocks noGrp="1"/>
          </p:cNvSpPr>
          <p:nvPr>
            <p:ph type="title"/>
          </p:nvPr>
        </p:nvSpPr>
        <p:spPr/>
        <p:txBody>
          <a:bodyPr/>
          <a:lstStyle/>
          <a:p>
            <a:r>
              <a:rPr lang="pl-PL" dirty="0">
                <a:solidFill>
                  <a:srgbClr val="00AEEF"/>
                </a:solidFill>
                <a:latin typeface="Trebuchet MS" panose="020B0603020202020204" pitchFamily="34" charset="0"/>
              </a:rPr>
              <a:t>Język programowania</a:t>
            </a:r>
          </a:p>
        </p:txBody>
      </p:sp>
      <p:sp>
        <p:nvSpPr>
          <p:cNvPr id="3" name="Content Placeholder 2">
            <a:extLst>
              <a:ext uri="{FF2B5EF4-FFF2-40B4-BE49-F238E27FC236}">
                <a16:creationId xmlns:a16="http://schemas.microsoft.com/office/drawing/2014/main" id="{7C26A132-DA9C-4580-BEEC-86537506427C}"/>
              </a:ext>
            </a:extLst>
          </p:cNvPr>
          <p:cNvSpPr>
            <a:spLocks noGrp="1"/>
          </p:cNvSpPr>
          <p:nvPr>
            <p:ph idx="1"/>
          </p:nvPr>
        </p:nvSpPr>
        <p:spPr>
          <a:xfrm>
            <a:off x="657224" y="2464526"/>
            <a:ext cx="10753725" cy="3766185"/>
          </a:xfrm>
        </p:spPr>
        <p:txBody>
          <a:bodyPr/>
          <a:lstStyle/>
          <a:p>
            <a:pPr>
              <a:buFont typeface="Wingdings" panose="05000000000000000000" pitchFamily="2" charset="2"/>
              <a:buChar char="v"/>
            </a:pPr>
            <a:r>
              <a:rPr lang="pl-PL" dirty="0">
                <a:solidFill>
                  <a:schemeClr val="bg2"/>
                </a:solidFill>
                <a:latin typeface="Trebuchet MS" panose="020B0603020202020204" pitchFamily="34" charset="0"/>
              </a:rPr>
              <a:t> C++</a:t>
            </a:r>
          </a:p>
          <a:p>
            <a:pPr>
              <a:buFont typeface="Wingdings" panose="05000000000000000000" pitchFamily="2" charset="2"/>
              <a:buChar char="v"/>
            </a:pPr>
            <a:r>
              <a:rPr lang="pl-PL" dirty="0">
                <a:solidFill>
                  <a:schemeClr val="bg2"/>
                </a:solidFill>
                <a:latin typeface="Trebuchet MS" panose="020B0603020202020204" pitchFamily="34" charset="0"/>
              </a:rPr>
              <a:t> C#</a:t>
            </a:r>
          </a:p>
          <a:p>
            <a:pPr>
              <a:buFont typeface="Wingdings" panose="05000000000000000000" pitchFamily="2" charset="2"/>
              <a:buChar char="v"/>
            </a:pPr>
            <a:r>
              <a:rPr lang="pl-PL" dirty="0">
                <a:solidFill>
                  <a:schemeClr val="bg2"/>
                </a:solidFill>
                <a:latin typeface="Trebuchet MS" panose="020B0603020202020204" pitchFamily="34" charset="0"/>
              </a:rPr>
              <a:t> Java</a:t>
            </a:r>
          </a:p>
          <a:p>
            <a:pPr>
              <a:buFont typeface="Wingdings" panose="05000000000000000000" pitchFamily="2" charset="2"/>
              <a:buChar char="v"/>
            </a:pPr>
            <a:r>
              <a:rPr lang="pl-PL" dirty="0">
                <a:solidFill>
                  <a:schemeClr val="bg2"/>
                </a:solidFill>
                <a:latin typeface="Trebuchet MS" panose="020B0603020202020204" pitchFamily="34" charset="0"/>
              </a:rPr>
              <a:t> </a:t>
            </a:r>
            <a:r>
              <a:rPr lang="pl-PL" dirty="0" err="1">
                <a:solidFill>
                  <a:schemeClr val="bg2"/>
                </a:solidFill>
                <a:latin typeface="Trebuchet MS" panose="020B0603020202020204" pitchFamily="34" charset="0"/>
              </a:rPr>
              <a:t>MiniZinc</a:t>
            </a:r>
            <a:endParaRPr lang="pl-PL" dirty="0">
              <a:solidFill>
                <a:schemeClr val="bg2"/>
              </a:solidFill>
              <a:latin typeface="Trebuchet MS" panose="020B0603020202020204" pitchFamily="34" charset="0"/>
            </a:endParaRPr>
          </a:p>
          <a:p>
            <a:pPr>
              <a:buFont typeface="Wingdings" panose="05000000000000000000" pitchFamily="2" charset="2"/>
              <a:buChar char="v"/>
            </a:pPr>
            <a:r>
              <a:rPr lang="pl-PL" dirty="0">
                <a:solidFill>
                  <a:schemeClr val="bg2"/>
                </a:solidFill>
                <a:latin typeface="Trebuchet MS" panose="020B0603020202020204" pitchFamily="34" charset="0"/>
              </a:rPr>
              <a:t> SWI-Prolog</a:t>
            </a:r>
          </a:p>
        </p:txBody>
      </p:sp>
    </p:spTree>
    <p:extLst>
      <p:ext uri="{BB962C8B-B14F-4D97-AF65-F5344CB8AC3E}">
        <p14:creationId xmlns:p14="http://schemas.microsoft.com/office/powerpoint/2010/main" val="4217488776"/>
      </p:ext>
    </p:extLst>
  </p:cSld>
  <p:clrMapOvr>
    <a:masterClrMapping/>
  </p:clrMapOvr>
</p:sld>
</file>

<file path=ppt/theme/theme1.xml><?xml version="1.0" encoding="utf-8"?>
<a:theme xmlns:a="http://schemas.openxmlformats.org/drawingml/2006/main" name="Metropolitan">
  <a:themeElements>
    <a:clrScheme name="Custom 4">
      <a:dk1>
        <a:srgbClr val="FFFFFF"/>
      </a:dk1>
      <a:lt1>
        <a:srgbClr val="FFFFFF"/>
      </a:lt1>
      <a:dk2>
        <a:srgbClr val="303034"/>
      </a:dk2>
      <a:lt2>
        <a:srgbClr val="FFFFFF"/>
      </a:lt2>
      <a:accent1>
        <a:srgbClr val="00AEEF"/>
      </a:accent1>
      <a:accent2>
        <a:srgbClr val="8CC600"/>
      </a:accent2>
      <a:accent3>
        <a:srgbClr val="FFBE00"/>
      </a:accent3>
      <a:accent4>
        <a:srgbClr val="FF0097"/>
      </a:accent4>
      <a:accent5>
        <a:srgbClr val="0071BC"/>
      </a:accent5>
      <a:accent6>
        <a:srgbClr val="FF8600"/>
      </a:accent6>
      <a:hlink>
        <a:srgbClr val="2424F0"/>
      </a:hlink>
      <a:folHlink>
        <a:srgbClr val="808080"/>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9FF7CA0D-8839-4012-B51C-B152F9BD65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Metropolitan</Template>
  <TotalTime>53</TotalTime>
  <Words>334</Words>
  <Application>Microsoft Office PowerPoint</Application>
  <PresentationFormat>Panoramiczny</PresentationFormat>
  <Paragraphs>25</Paragraphs>
  <Slides>5</Slides>
  <Notes>3</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5</vt:i4>
      </vt:variant>
    </vt:vector>
  </HeadingPairs>
  <TitlesOfParts>
    <vt:vector size="12" baseType="lpstr">
      <vt:lpstr>Arial</vt:lpstr>
      <vt:lpstr>Calibri</vt:lpstr>
      <vt:lpstr>Calibri Light</vt:lpstr>
      <vt:lpstr>Roboto</vt:lpstr>
      <vt:lpstr>Trebuchet MS</vt:lpstr>
      <vt:lpstr>Wingdings</vt:lpstr>
      <vt:lpstr>Metropolitan</vt:lpstr>
      <vt:lpstr>Bag Puzzle</vt:lpstr>
      <vt:lpstr>Zasady</vt:lpstr>
      <vt:lpstr>Problem CSP</vt:lpstr>
      <vt:lpstr>Paradygmat CP(FD)</vt:lpstr>
      <vt:lpstr>Język programowania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Bag Puzzle</dc:title>
  <dc:creator>Hubert K</dc:creator>
  <cp:lastModifiedBy>Jordan Kondracki</cp:lastModifiedBy>
  <cp:revision>6</cp:revision>
  <dcterms:created xsi:type="dcterms:W3CDTF">2021-03-24T13:16:08Z</dcterms:created>
  <dcterms:modified xsi:type="dcterms:W3CDTF">2021-03-24T14:24:09Z</dcterms:modified>
</cp:coreProperties>
</file>